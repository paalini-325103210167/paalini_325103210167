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0" r:id="rId7"/>
    <p:sldId id="258" r:id="rId8"/>
    <p:sldId id="261" r:id="rId9"/>
    <p:sldId id="267" r:id="rId10"/>
    <p:sldId id="269" r:id="rId11"/>
    <p:sldId id="268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11/20/2025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o.microsoft.com/fwlink/?linkid=2006808&amp;clcid=0x409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DIGITAL ADDICTION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AND IT’S MPACT ON PRODUCTIVITY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TYPES OF DIGITAL ADDICTION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19253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1. Internet Gaming </a:t>
            </a:r>
            <a:r>
              <a:rPr lang="en-US" dirty="0" smtClean="0"/>
              <a:t>Disorder</a:t>
            </a:r>
          </a:p>
          <a:p>
            <a:r>
              <a:rPr lang="en-US" dirty="0"/>
              <a:t>2. Social media addiction: An</a:t>
            </a:r>
            <a:endParaRPr lang="en-US" dirty="0" smtClean="0"/>
          </a:p>
          <a:p>
            <a:r>
              <a:rPr lang="en-US" dirty="0"/>
              <a:t>3. Online relationship addiction</a:t>
            </a:r>
            <a:endParaRPr lang="en-US" dirty="0" smtClean="0"/>
          </a:p>
          <a:p>
            <a:r>
              <a:rPr lang="en-US" dirty="0" smtClean="0"/>
              <a:t>4.</a:t>
            </a:r>
            <a:r>
              <a:rPr lang="en-IN" b="1" dirty="0"/>
              <a:t> Compulsive information </a:t>
            </a:r>
            <a:r>
              <a:rPr lang="en-IN" b="1" dirty="0" smtClean="0"/>
              <a:t>seeking</a:t>
            </a:r>
            <a:endParaRPr lang="en-US" dirty="0" smtClean="0"/>
          </a:p>
          <a:p>
            <a:r>
              <a:rPr lang="en-US" dirty="0" smtClean="0"/>
              <a:t>5.</a:t>
            </a:r>
            <a:r>
              <a:rPr lang="en-IN" b="1" dirty="0"/>
              <a:t> Shopping and auction addiction</a:t>
            </a:r>
            <a:endParaRPr lang="en-US" dirty="0" smtClean="0"/>
          </a:p>
          <a:p>
            <a:r>
              <a:rPr lang="en-US" dirty="0" smtClean="0"/>
              <a:t>6.</a:t>
            </a:r>
            <a:r>
              <a:rPr lang="en-IN" b="1" dirty="0"/>
              <a:t> Online </a:t>
            </a:r>
            <a:r>
              <a:rPr lang="en-IN" b="1" dirty="0" smtClean="0"/>
              <a:t>gambling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55" y="342778"/>
            <a:ext cx="5927835" cy="15345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CAUSES</a:t>
            </a:r>
            <a:r>
              <a:rPr lang="en-US" dirty="0" smtClean="0"/>
              <a:t> OF DIGITAL ADDICTION: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55" y="2055964"/>
            <a:ext cx="5513838" cy="510901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76176" rIns="0" bIns="15235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lgerian" panose="04020705040A02060702" pitchFamily="82" charset="0"/>
              </a:rPr>
              <a:t>Behavioral and environmental factors:</a:t>
            </a: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</a:rPr>
              <a:t>Instant </a:t>
            </a:r>
            <a:r>
              <a:rPr lang="en-IN" b="1" dirty="0" smtClean="0">
                <a:solidFill>
                  <a:schemeClr val="bg1"/>
                </a:solidFill>
              </a:rPr>
              <a:t>gratification</a:t>
            </a: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</a:rPr>
              <a:t>Variable </a:t>
            </a:r>
            <a:r>
              <a:rPr lang="en-IN" b="1" dirty="0" smtClean="0">
                <a:solidFill>
                  <a:schemeClr val="bg1"/>
                </a:solidFill>
              </a:rPr>
              <a:t>reinforcement</a:t>
            </a: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</a:rPr>
              <a:t>Algorithmic </a:t>
            </a:r>
            <a:r>
              <a:rPr lang="en-IN" b="1" dirty="0" smtClean="0">
                <a:solidFill>
                  <a:schemeClr val="bg1"/>
                </a:solidFill>
              </a:rPr>
              <a:t>design</a:t>
            </a:r>
            <a:r>
              <a:rPr lang="en-IN" dirty="0">
                <a:solidFill>
                  <a:schemeClr val="bg1"/>
                </a:solidFill>
              </a:rPr>
              <a:t> </a:t>
            </a:r>
            <a:endParaRPr lang="en-IN" dirty="0" smtClean="0">
              <a:solidFill>
                <a:schemeClr val="bg1"/>
              </a:solidFill>
            </a:endParaRPr>
          </a:p>
          <a:p>
            <a:pPr lvl="0">
              <a:lnSpc>
                <a:spcPct val="100000"/>
              </a:lnSpc>
              <a:buClrTx/>
            </a:pPr>
            <a:r>
              <a:rPr lang="en-IN" b="1" dirty="0" smtClean="0">
                <a:solidFill>
                  <a:schemeClr val="bg1"/>
                </a:solidFill>
              </a:rPr>
              <a:t>Accessibility</a:t>
            </a:r>
          </a:p>
          <a:p>
            <a:pPr lvl="0">
              <a:lnSpc>
                <a:spcPct val="100000"/>
              </a:lnSpc>
              <a:buClrTx/>
            </a:pPr>
            <a:endParaRPr lang="en-IN" b="1" dirty="0" smtClean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  <a:latin typeface="Algerian" panose="04020705040A02060702" pitchFamily="82" charset="0"/>
              </a:rPr>
              <a:t>Psychological </a:t>
            </a:r>
            <a:r>
              <a:rPr lang="en-IN" b="1" dirty="0" smtClean="0">
                <a:solidFill>
                  <a:schemeClr val="bg1"/>
                </a:solidFill>
                <a:latin typeface="Algerian" panose="04020705040A02060702" pitchFamily="82" charset="0"/>
              </a:rPr>
              <a:t>factors:</a:t>
            </a: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</a:rPr>
              <a:t>Mental health </a:t>
            </a:r>
            <a:r>
              <a:rPr lang="en-IN" b="1" dirty="0" smtClean="0">
                <a:solidFill>
                  <a:schemeClr val="bg1"/>
                </a:solidFill>
              </a:rPr>
              <a:t>conditions</a:t>
            </a: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</a:rPr>
              <a:t>Low </a:t>
            </a:r>
            <a:r>
              <a:rPr lang="en-IN" b="1" dirty="0" smtClean="0">
                <a:solidFill>
                  <a:schemeClr val="bg1"/>
                </a:solidFill>
              </a:rPr>
              <a:t>self-esteem</a:t>
            </a:r>
          </a:p>
          <a:p>
            <a:pPr lvl="0">
              <a:lnSpc>
                <a:spcPct val="100000"/>
              </a:lnSpc>
              <a:buClrTx/>
            </a:pPr>
            <a:r>
              <a:rPr lang="en-IN" b="1" dirty="0" smtClean="0">
                <a:solidFill>
                  <a:schemeClr val="bg1"/>
                </a:solidFill>
              </a:rPr>
              <a:t>Stress</a:t>
            </a: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</a:rPr>
              <a:t>Introversion and social </a:t>
            </a:r>
            <a:r>
              <a:rPr lang="en-IN" b="1" dirty="0" smtClean="0">
                <a:solidFill>
                  <a:schemeClr val="bg1"/>
                </a:solidFill>
              </a:rPr>
              <a:t>anxiety</a:t>
            </a: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</a:rPr>
              <a:t>Pre-existing addiction </a:t>
            </a:r>
            <a:r>
              <a:rPr lang="en-IN" b="1" dirty="0" smtClean="0">
                <a:solidFill>
                  <a:schemeClr val="bg1"/>
                </a:solidFill>
              </a:rPr>
              <a:t>history</a:t>
            </a:r>
            <a:endParaRPr lang="en-IN" b="1" dirty="0">
              <a:solidFill>
                <a:schemeClr val="bg1"/>
              </a:solidFill>
            </a:endParaRPr>
          </a:p>
          <a:p>
            <a:pPr lvl="0">
              <a:lnSpc>
                <a:spcPct val="100000"/>
              </a:lnSpc>
              <a:buClrTx/>
            </a:pPr>
            <a:endParaRPr lang="en-IN" b="1" dirty="0" smtClean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  <a:latin typeface="Algerian" panose="04020705040A02060702" pitchFamily="82" charset="0"/>
              </a:rPr>
              <a:t>Social </a:t>
            </a:r>
            <a:r>
              <a:rPr lang="en-IN" b="1" dirty="0" smtClean="0">
                <a:solidFill>
                  <a:schemeClr val="bg1"/>
                </a:solidFill>
                <a:latin typeface="Algerian" panose="04020705040A02060702" pitchFamily="82" charset="0"/>
              </a:rPr>
              <a:t>factors</a:t>
            </a:r>
            <a:r>
              <a:rPr lang="en-IN" b="1" dirty="0" smtClean="0">
                <a:solidFill>
                  <a:schemeClr val="bg1"/>
                </a:solidFill>
              </a:rPr>
              <a:t>:</a:t>
            </a: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</a:rPr>
              <a:t>Parental influence</a:t>
            </a:r>
            <a:r>
              <a:rPr lang="en-IN" b="1" dirty="0" smtClean="0">
                <a:solidFill>
                  <a:schemeClr val="bg1"/>
                </a:solidFill>
              </a:rPr>
              <a:t>:</a:t>
            </a: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</a:rPr>
              <a:t>Family </a:t>
            </a:r>
            <a:r>
              <a:rPr lang="en-IN" b="1" dirty="0" smtClean="0">
                <a:solidFill>
                  <a:schemeClr val="bg1"/>
                </a:solidFill>
              </a:rPr>
              <a:t>history</a:t>
            </a: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</a:rPr>
              <a:t>Interpersonal difficulties</a:t>
            </a:r>
            <a:r>
              <a:rPr lang="en-IN" b="1" dirty="0" smtClean="0">
                <a:solidFill>
                  <a:schemeClr val="bg1"/>
                </a:solidFill>
              </a:rPr>
              <a:t>:</a:t>
            </a:r>
          </a:p>
          <a:p>
            <a:pPr lvl="0">
              <a:lnSpc>
                <a:spcPct val="100000"/>
              </a:lnSpc>
              <a:buClrTx/>
            </a:pPr>
            <a:r>
              <a:rPr lang="en-IN" b="1" dirty="0">
                <a:solidFill>
                  <a:schemeClr val="bg1"/>
                </a:solidFill>
              </a:rPr>
              <a:t>Lack of social support</a:t>
            </a:r>
            <a:endParaRPr kumimoji="0" lang="en-US" altLang="en-US" sz="9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654" y="373993"/>
            <a:ext cx="5633545" cy="6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SOLUTIONS: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b="1" dirty="0"/>
              <a:t>See a </a:t>
            </a:r>
            <a:r>
              <a:rPr lang="en-IN" b="1" dirty="0" err="1"/>
              <a:t>counselor</a:t>
            </a:r>
            <a:r>
              <a:rPr lang="en-IN" b="1" dirty="0"/>
              <a:t> or consider joining a support group for </a:t>
            </a:r>
            <a:r>
              <a:rPr lang="en-IN" b="1" dirty="0" err="1"/>
              <a:t>counseling</a:t>
            </a:r>
            <a:r>
              <a:rPr lang="en-IN" b="1" dirty="0"/>
              <a:t>, tips, and support.</a:t>
            </a:r>
            <a:endParaRPr lang="en-IN" dirty="0"/>
          </a:p>
          <a:p>
            <a:r>
              <a:rPr lang="en-IN" dirty="0"/>
              <a:t>Consult a health care provider for information and treatment.</a:t>
            </a:r>
          </a:p>
          <a:p>
            <a:r>
              <a:rPr lang="en-IN" dirty="0"/>
              <a:t>Monitor and limit your Internet habits. Keep a log of your Internet use. ...</a:t>
            </a:r>
          </a:p>
          <a:p>
            <a:r>
              <a:rPr lang="en-IN" dirty="0"/>
              <a:t>Develop other interests. Get involved in campus clubs and organizations. ...</a:t>
            </a:r>
          </a:p>
          <a:p>
            <a:r>
              <a:rPr lang="en-IN" dirty="0"/>
              <a:t>Take care of yourself.</a:t>
            </a: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IT’S IMPACT ON PRODUCTIVITY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75412" y="1681163"/>
            <a:ext cx="5183188" cy="823912"/>
          </a:xfrm>
        </p:spPr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“</a:t>
            </a:r>
            <a:r>
              <a:rPr lang="en-US" dirty="0" smtClean="0">
                <a:latin typeface="Arial Black" panose="020B0A04020102020204" pitchFamily="34" charset="0"/>
              </a:rPr>
              <a:t>Social media is to the mind what </a:t>
            </a:r>
          </a:p>
          <a:p>
            <a:r>
              <a:rPr lang="en-US" dirty="0" smtClean="0">
                <a:latin typeface="Arial Black" panose="020B0A04020102020204" pitchFamily="34" charset="0"/>
              </a:rPr>
              <a:t>Sugar is to the body”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412" y="2732690"/>
            <a:ext cx="5064947" cy="3258207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20638" y="1529222"/>
            <a:ext cx="6030912" cy="47858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76176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Specific impacts on productivity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Reduced focus: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 Constant notifications and the urge to check devices can fragment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attention spans, making it difficult to concentrate on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Poor time management: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 Addictive behaviors can lead to a preoccupation with digital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 activities, making it hard to prioritize tasks and manage time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Increased distractions: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 Excessive smartphone use in the workplace can result in a loss of work hours and decrease overall productivity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Decreased quality of work: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 A compulsive dependency on digital technology can lead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 a decline in the quantity and quality of 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Negative impact on well-being: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 Digital addiction is linked to anxiety, poor sleep, and social isolation, which in turn negatively affects a person's ability to be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effectLst/>
                <a:latin typeface="Google Sans"/>
              </a:rPr>
              <a:t>productivein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effectLst/>
                <a:latin typeface="Google Sans"/>
              </a:rPr>
              <a:t> various aspects of life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Quote appears here </a:t>
            </a:r>
            <a:br>
              <a:rPr lang="en-US" dirty="0" smtClean="0"/>
            </a:br>
            <a:r>
              <a:rPr lang="en-US" dirty="0" smtClean="0"/>
              <a:t>Lorem ipsum dolor sit </a:t>
            </a:r>
            <a:r>
              <a:rPr lang="en-US" dirty="0" err="1" smtClean="0"/>
              <a:t>amet</a:t>
            </a:r>
            <a:r>
              <a:rPr lang="en-US" dirty="0" smtClean="0"/>
              <a:t>, </a:t>
            </a:r>
            <a:r>
              <a:rPr lang="en-US" dirty="0" err="1" smtClean="0"/>
              <a:t>consectetuer</a:t>
            </a:r>
            <a:r>
              <a:rPr lang="en-US" dirty="0" smtClean="0"/>
              <a:t> </a:t>
            </a:r>
            <a:r>
              <a:rPr lang="en-US" dirty="0" err="1" smtClean="0"/>
              <a:t>adipiscing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r>
              <a:rPr lang="en-US" dirty="0" smtClean="0"/>
              <a:t>.” </a:t>
            </a:r>
            <a:br>
              <a:rPr lang="en-US" dirty="0" smtClean="0"/>
            </a:br>
            <a:r>
              <a:rPr lang="en-US" dirty="0" smtClean="0"/>
              <a:t>- Author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2056" y="705139"/>
            <a:ext cx="4945598" cy="1243584"/>
          </a:xfrm>
        </p:spPr>
        <p:txBody>
          <a:bodyPr/>
          <a:lstStyle/>
          <a:p>
            <a:r>
              <a:rPr lang="en-US" dirty="0" smtClean="0"/>
              <a:t>CONCLUSION: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this Template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4A61-D199-469B-AB0C-B68F82B50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Template Editing Instructions and Feedback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71af3243-3dd4-4a8d-8c0d-dd76da1f0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169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Algerian</vt:lpstr>
      <vt:lpstr>Arial</vt:lpstr>
      <vt:lpstr>Arial Black</vt:lpstr>
      <vt:lpstr>Calibri</vt:lpstr>
      <vt:lpstr>Google Sans</vt:lpstr>
      <vt:lpstr>Tahoma</vt:lpstr>
      <vt:lpstr>Trade Gothic LT Pro</vt:lpstr>
      <vt:lpstr>Trebuchet MS</vt:lpstr>
      <vt:lpstr>Office Theme</vt:lpstr>
      <vt:lpstr>DIGITAL ADDICTION</vt:lpstr>
      <vt:lpstr>TYPES OF DIGITAL ADDICTION</vt:lpstr>
      <vt:lpstr>CAUSES OF DIGITAL ADDICTION:</vt:lpstr>
      <vt:lpstr>SOLUTIONS:</vt:lpstr>
      <vt:lpstr>IT’S IMPACT ON PRODUCTIVITY</vt:lpstr>
      <vt:lpstr>Quote appears here  Lorem ipsum dolor sit amet, consectetuer adipiscing elit.”  - Author</vt:lpstr>
      <vt:lpstr>CONCLUSION:</vt:lpstr>
      <vt:lpstr>Thank You 2</vt:lpstr>
      <vt:lpstr>Customize this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2025-11-20T08:53:08Z</dcterms:created>
  <dcterms:modified xsi:type="dcterms:W3CDTF">2025-11-20T09:38:10Z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